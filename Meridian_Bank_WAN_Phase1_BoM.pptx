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F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4A9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6B8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A4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7C4E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3E8F3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Routers</c:v>
                  </c:pt>
                  <c:pt idx="1">
                    <c:v>Fiber &amp; SFP</c:v>
                  </c:pt>
                  <c:pt idx="2">
                    <c:v>CSU/DSU</c:v>
                  </c:pt>
                  <c:pt idx="3">
                    <c:v>Serial/Console
Cables</c:v>
                  </c:pt>
                  <c:pt idx="4">
                    <c:v>Rack &amp; Misc</c:v>
                  </c:pt>
                  <c:pt idx="5">
                    <c:v>Unused
Headroom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5200</c:v>
                </c:pt>
                <c:pt idx="1">
                  <c:v>675</c:v>
                </c:pt>
                <c:pt idx="2">
                  <c:v>900</c:v>
                </c:pt>
                <c:pt idx="3">
                  <c:v>400</c:v>
                </c:pt>
                <c:pt idx="4">
                  <c:v>150</c:v>
                </c:pt>
                <c:pt idx="5">
                  <c:v>7675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1F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F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AF3"/>
              </a:solidFill>
              <a:prstDash val="solid"/>
              <a:round/>
            </a:ln>
          </c:spPr>
        </c:majorGridlines>
        <c:numFmt formatCode="&quot;$&quot;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4.png"/><Relationship Id="rId5" Type="http://schemas.openxmlformats.org/officeDocument/2006/relationships/image" Target="../media/image-12-4.png"/><Relationship Id="rId6" Type="http://schemas.openxmlformats.org/officeDocument/2006/relationships/image" Target="../media/image-12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417320" y="2148840"/>
            <a:ext cx="1371600" cy="1371600"/>
          </a:xfrm>
          <a:prstGeom prst="ellipse">
            <a:avLst/>
          </a:prstGeom>
          <a:solidFill>
            <a:srgbClr val="D4A94C"/>
          </a:solidFill>
          <a:ln/>
        </p:spPr>
      </p:sp>
      <p:pic>
        <p:nvPicPr>
          <p:cNvPr id="4" name="Image 0" descr="/home/claude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196" y="2299716"/>
            <a:ext cx="1069848" cy="10698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7490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D4A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416052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OF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663440" y="182880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 Bank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663440" y="25146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Area Network Deployment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663440" y="3200400"/>
            <a:ext cx="2926080" cy="0"/>
          </a:xfrm>
          <a:prstGeom prst="line">
            <a:avLst/>
          </a:prstGeom>
          <a:noFill/>
          <a:ln w="25400">
            <a:solidFill>
              <a:srgbClr val="D4A94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63440" y="338328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5-Site Capstone Network Architecture — CS 4122: Wide Area Networks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663440" y="484632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University WAN Defense Board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 3132 / CS 4122 — Wide Area Networks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Milestone: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Physical Layer Bill of Materials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663440" y="62636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Deliverable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Milestone — before a single configuration line is written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188915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Selection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model per site, sized to throughput &amp; user count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630" y="188915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780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 Transceivers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628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Transceiver type and quantity for every inter-site link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icons/pl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670" y="188915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06840" y="18013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&amp; Connectors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275320" y="246888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type (SMF/MMF) and connector standard (LC)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cons/rou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408371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995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 &amp; Pinouts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77240" y="4663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V.35 and RS-232 cabling with DTE/DCE pin mapping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icons/di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6630" y="408371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57800" y="3995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Clocking Plan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26280" y="4663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DCE/DTE assignment and required clock rate per link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79476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223355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0233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icons/mon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5670" y="4083710"/>
            <a:ext cx="427939" cy="42793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06840" y="39959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Compliance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275320" y="4663440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itemized cost, held under the $15,000 ceiling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Recap — The Meridian Bank Scenario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sites across Cameroon, one non-negotiable set of constraints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858000" cy="265176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301752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from HQ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— Yaoundé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banking servers, 99.999% uptime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 — Douala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Major commercial hub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B — Buea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Regional office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C — Garoua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Northern gateway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D — Maroua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presence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6858000" cy="36576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858000" cy="36576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301752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from HQ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680960" y="155448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7909560" y="17373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 Constraints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909560" y="2240280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Mbps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throughput to every branch
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budget — strict ceiling
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CHAP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on all inter-branch traffic
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km  </a:t>
            </a:r>
            <a:pPr indent="0" marL="0">
              <a:lnSpc>
                <a:spcPct val="135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single link — HQ to Maroua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Philosophy — Respect the Physics of the Link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BoM is not "just pick the fastest SFP"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fiber transceivers are reach-limited — SX ≈ 550 m, LX ≈ 10 km, ZX ≈ 70–80 km. Not one of them reaches the 200–1,000 km spans between HQ and the branches. A BoM that simply specifies "SFP" for every link fails on Day 1.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1064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does not build its own 1,000 km fiber run. Camtel, the carrier, already owns that long-haul path (with its own amplification and regeneration). Meridian Bank's Bill of Materials only needs to cover the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loop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short hop from the router to the carrier's demarcation point in each city. That is a design decision, and it is the one this BoM makes.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61" y="3987241"/>
            <a:ext cx="392278" cy="3922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layer first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Layer 1 is broken, Layers 2 and 3 never get a chance to matter.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4340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321" y="3987241"/>
            <a:ext cx="392278" cy="3922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carries the distance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loop optics only; Camtel's backbone carries the km.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3703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4F6FB"/>
          </a:solidFill>
          <a:ln/>
        </p:spPr>
      </p:sp>
      <p:sp>
        <p:nvSpPr>
          <p:cNvPr id="17" name="Shape 13"/>
          <p:cNvSpPr/>
          <p:nvPr/>
        </p:nvSpPr>
        <p:spPr>
          <a:xfrm>
            <a:off x="836676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/home/claude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2081" y="3987241"/>
            <a:ext cx="392278" cy="3922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4572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by design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66760" y="49377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gets a primary fiber path and a serial backup path.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Topology — Dual-Path Hub and Spoke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 reaches HQ through the Camtel core, on two independent paths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23560" y="3291840"/>
            <a:ext cx="137160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9050">
            <a:solidFill>
              <a:srgbClr val="D4A9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4290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4067" y="350946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0" y="4709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Yaoundé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166360" y="2834640"/>
            <a:ext cx="2286000" cy="2286000"/>
          </a:xfrm>
          <a:prstGeom prst="ellipse">
            <a:avLst/>
          </a:prstGeom>
          <a:solidFill>
            <a:srgbClr val="CADCFC">
              <a:alpha val="45000"/>
            </a:srgbClr>
          </a:solidFill>
          <a:ln w="12700">
            <a:solidFill>
              <a:srgbClr val="5B6B8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4617720" y="2423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Camtel MPLS / Metro-E Core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188720" y="7772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11" name="Shape 8"/>
          <p:cNvSpPr/>
          <p:nvPr/>
        </p:nvSpPr>
        <p:spPr>
          <a:xfrm>
            <a:off x="1444752" y="9418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2" name="Image 1" descr="/home/claude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5102" y="1002182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1874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Douala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km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1714500" y="1303020"/>
            <a:ext cx="4594860" cy="26746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88720" y="32918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16" name="Shape 12"/>
          <p:cNvSpPr/>
          <p:nvPr/>
        </p:nvSpPr>
        <p:spPr>
          <a:xfrm>
            <a:off x="1444752" y="34564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17" name="Image 2" descr="/home/claude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5102" y="3516782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7240" y="43891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km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714500" y="3817620"/>
            <a:ext cx="4594860" cy="1600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692640" y="7772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21" name="Shape 16"/>
          <p:cNvSpPr/>
          <p:nvPr/>
        </p:nvSpPr>
        <p:spPr>
          <a:xfrm>
            <a:off x="9948672" y="9418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2" name="Image 3" descr="/home/claude/icons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9022" y="1002182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81160" y="18745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Garoua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km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 flipV="1">
            <a:off x="6309360" y="1303020"/>
            <a:ext cx="3909060" cy="26746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9692640" y="329184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5B6B8C"/>
          </a:solidFill>
          <a:ln/>
        </p:spPr>
      </p:sp>
      <p:sp>
        <p:nvSpPr>
          <p:cNvPr id="26" name="Shape 20"/>
          <p:cNvSpPr/>
          <p:nvPr/>
        </p:nvSpPr>
        <p:spPr>
          <a:xfrm>
            <a:off x="9948672" y="3456432"/>
            <a:ext cx="548640" cy="548640"/>
          </a:xfrm>
          <a:prstGeom prst="ellipse">
            <a:avLst/>
          </a:prstGeom>
          <a:solidFill>
            <a:srgbClr val="5B6B8C"/>
          </a:solidFill>
          <a:ln/>
        </p:spPr>
      </p:sp>
      <p:pic>
        <p:nvPicPr>
          <p:cNvPr id="27" name="Image 4" descr="/home/claude/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9022" y="3516782"/>
            <a:ext cx="427939" cy="42793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281160" y="438912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Maroua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km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 flipV="1">
            <a:off x="6309360" y="3817620"/>
            <a:ext cx="3909060" cy="160020"/>
          </a:xfrm>
          <a:prstGeom prst="line">
            <a:avLst/>
          </a:prstGeom>
          <a:noFill/>
          <a:ln w="28575">
            <a:solidFill>
              <a:srgbClr val="D4A94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080" y="5989320"/>
            <a:ext cx="457200" cy="0"/>
          </a:xfrm>
          <a:prstGeom prst="line">
            <a:avLst/>
          </a:prstGeom>
          <a:noFill/>
          <a:ln w="31750">
            <a:solidFill>
              <a:srgbClr val="D4A94C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188720" y="5806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Camtel Metro-Ethernet / MPLS (fiber, SFP-LX)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675120" y="5989320"/>
            <a:ext cx="45720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dash"/>
          </a:ln>
        </p:spPr>
      </p:sp>
      <p:sp>
        <p:nvSpPr>
          <p:cNvPr id="33" name="Text 26"/>
          <p:cNvSpPr/>
          <p:nvPr/>
        </p:nvSpPr>
        <p:spPr>
          <a:xfrm>
            <a:off x="7223760" y="5806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E1 leased line via CSU/DSU (V.35 serial)</a:t>
            </a:r>
            <a:endParaRPr lang="en-US" sz="1100" dirty="0"/>
          </a:p>
        </p:txBody>
      </p:sp>
      <p:sp>
        <p:nvSpPr>
          <p:cNvPr id="34" name="Text 27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Router Selection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Sized to user count, throughput demand, and role — not one-size-fits-all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83464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2194560"/>
                <a:gridCol w="448056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Interfaces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— Yaoundé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4331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GE (fiber) + 4× Serial NIM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1121-4P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1101-4P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Garoua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 GE (fiber) + 1× Serial (E1 backup)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2194560"/>
                <a:gridCol w="448056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 Interfaces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/>
        </p:spPr>
      </p:sp>
      <p:sp>
        <p:nvSpPr>
          <p:cNvPr id="8" name="Shape 4"/>
          <p:cNvSpPr/>
          <p:nvPr/>
        </p:nvSpPr>
        <p:spPr>
          <a:xfrm>
            <a:off x="777240" y="493776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9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561" y="4993081"/>
            <a:ext cx="392278" cy="3922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4892040"/>
            <a:ext cx="10012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Justification: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ISR 4331 gives HQ headroom for 500 users, 99.999%-uptime routing, and enough NIM slots to aggregate four backup serial links. Branch routers scale down with user count — the ISR 1101 series covers Garoua and Maroua's light 15–30 user load at a fraction of the cost, protecting the budget for the larger branches.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WAN Link — Fiber to the Carrier Demarc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site's local loop, not the inter-city span, sets the optic reach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78892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286000"/>
                <a:gridCol w="164592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Transceiver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Local-Loop Reach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 — Yaoundé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Maroua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(1310 nm)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SMF, 9/125 µm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 (duplex)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 km — within rating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1148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286000"/>
                <a:gridCol w="1645920"/>
                <a:gridCol w="2743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Transceiver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Fiber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Local-Loop Reach Needed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5720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SMF + LX, and not MMF or a ZX/SX mismatch: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Multimode SFPs are for short campus runs — ordering MMF for any carrier local loop risks a dead link on Day 1.
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 (single-mode, 10 km) comfortably covers every realistic local loop, whether the branch sits 200 km or 1,000 km from HQ — the long haul is Camtel's fiber, not the bank's.
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Standardizing on one transceiver part number across all 5 sites simplifies sparing and lowers unit cost.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WAN Link — Serial E1 via CSU/DSU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for the 99.999%-uptime requirement, with full clocking spec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329184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737360"/>
                <a:gridCol w="109728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DCE /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Douala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Garoua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Maroua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(2.048 Mbps)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(DTE)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CSU/DSU = DCE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=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2,048,000 bps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554480"/>
            <a:ext cx="74066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06640" cy="411480"/>
        </p:xfrm>
        <a:graphic>
          <a:graphicData uri="http://schemas.openxmlformats.org/drawingml/2006/table">
            <a:tbl>
              <a:tblPr/>
              <a:tblGrid>
                <a:gridCol w="1097280"/>
                <a:gridCol w="1371600"/>
                <a:gridCol w="1737360"/>
                <a:gridCol w="1097280"/>
                <a:gridCol w="137160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Device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DCE / DTE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Clock 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229600" y="1554480"/>
            <a:ext cx="3429000" cy="3291840"/>
          </a:xfrm>
          <a:prstGeom prst="roundRect">
            <a:avLst>
              <a:gd name="adj" fmla="val 2222"/>
            </a:avLst>
          </a:prstGeom>
          <a:solidFill>
            <a:srgbClr val="F4F6FB"/>
          </a:solidFill>
          <a:ln/>
        </p:spPr>
      </p:sp>
      <p:sp>
        <p:nvSpPr>
          <p:cNvPr id="8" name="Text 4"/>
          <p:cNvSpPr/>
          <p:nvPr/>
        </p:nvSpPr>
        <p:spPr>
          <a:xfrm>
            <a:off x="8458200" y="1691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Clocking Path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8549640" y="2148840"/>
            <a:ext cx="2788920" cy="59436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10" name="Text 6"/>
          <p:cNvSpPr/>
          <p:nvPr/>
        </p:nvSpPr>
        <p:spPr>
          <a:xfrm>
            <a:off x="8549640" y="21488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(DTE — receives clock)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9944100" y="2743200"/>
            <a:ext cx="0" cy="36576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8549640" y="3108960"/>
            <a:ext cx="2788920" cy="594360"/>
          </a:xfrm>
          <a:prstGeom prst="roundRect">
            <a:avLst/>
          </a:prstGeom>
          <a:solidFill>
            <a:srgbClr val="5B6B8C"/>
          </a:solidFill>
          <a:ln/>
        </p:spPr>
      </p:sp>
      <p:sp>
        <p:nvSpPr>
          <p:cNvPr id="13" name="Text 9"/>
          <p:cNvSpPr/>
          <p:nvPr/>
        </p:nvSpPr>
        <p:spPr>
          <a:xfrm>
            <a:off x="8549640" y="310896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CSU/DSU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(DCE — provides clock)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9944100" y="3703320"/>
            <a:ext cx="0" cy="36576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549640" y="4069080"/>
            <a:ext cx="2788920" cy="594360"/>
          </a:xfrm>
          <a:prstGeom prst="roundRect">
            <a:avLst/>
          </a:prstGeom>
          <a:solidFill>
            <a:srgbClr val="D4A94C"/>
          </a:solidFill>
          <a:ln/>
        </p:spPr>
      </p:sp>
      <p:sp>
        <p:nvSpPr>
          <p:cNvPr id="16" name="Text 12"/>
          <p:cNvSpPr/>
          <p:nvPr/>
        </p:nvSpPr>
        <p:spPr>
          <a:xfrm>
            <a:off x="8549640" y="40690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Camtel E1 Demarc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458200" y="4754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the DCE (CSU/DSU) always supplies clocking. A clock-rate mismatch here is the #1 cause of a serial link stuck in "down/down."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&amp; Management Cabling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RS-232 remains the most reliable path in when the network itself is down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192024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65176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 /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cable (×5, one per router)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RS-232 (rollover)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RJ-45 → DB-9 adapter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9600-8-N-1, no flow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LAN uplinks (×5)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Ethernet, T568B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RJ-45 (straight-through)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 GE port → access 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panel jumpers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Cat6, T568B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RJ-45 (straight-through)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Demarc patch panel → router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600200"/>
            <a:ext cx="11064240" cy="41148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11480"/>
        </p:xfrm>
        <a:graphic>
          <a:graphicData uri="http://schemas.openxmlformats.org/drawingml/2006/table">
            <a:tbl>
              <a:tblPr/>
              <a:tblGrid>
                <a:gridCol w="3657600"/>
                <a:gridCol w="2468880"/>
                <a:gridCol w="2651760"/>
                <a:gridCol w="22860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 / 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37947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cable type still gets a line item: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8640" y="416052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crossover cable where straight-through is required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link that is physically "up" but passes no traffic — a classic Layer 1 trap this BoM avoids by specifying pinout, not just "a cable."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481888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 DTE/DCE assignment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technician on-site who guesses wrong will spend hours chasing a clock-rate mismatch that a labeled BoM prevents in five minutes.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5477256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the console cable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only path into a router once a misconfiguration takes down its network interfaces.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Itemized Bill of Materials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sites, primary + backup paths, fully priced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863840" cy="4114800"/>
        </p:xfrm>
        <a:graphic>
          <a:graphicData uri="http://schemas.openxmlformats.org/drawingml/2006/table">
            <a:tbl>
              <a:tblPr/>
              <a:tblGrid>
                <a:gridCol w="4480560"/>
                <a:gridCol w="8229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4331 (HQ router)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1121-4P (Douala router)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1101-4P (Buea router)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Cisco ISR 1101 (Garoua &amp; Maroua routers)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SFP-LX transceiver, 1310 nm, SMF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SMF patch cable, LC-LC duplex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CSU/DSU 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V.35 serial cable (DTE, router-side)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 demarc cable, RJ-48C (carrier-side)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RS-232 rollover console cable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 accessories &amp; patch panel 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1463040"/>
            <a:ext cx="7863840" cy="365760"/>
          </a:xfrm>
          <a:prstGeom prst="rect">
            <a:avLst/>
          </a:prstGeom>
          <a:solidFill>
            <a:srgbClr val="1E2761"/>
          </a:solidFill>
          <a:ln/>
        </p:spPr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863840" cy="365760"/>
        </p:xfrm>
        <a:graphic>
          <a:graphicData uri="http://schemas.openxmlformats.org/drawingml/2006/table">
            <a:tbl>
              <a:tblPr/>
              <a:tblGrid>
                <a:gridCol w="4480560"/>
                <a:gridCol w="822960"/>
                <a:gridCol w="128016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686800" y="1463040"/>
            <a:ext cx="2971800" cy="4114800"/>
          </a:xfrm>
          <a:prstGeom prst="roundRect">
            <a:avLst>
              <a:gd name="adj" fmla="val 2462"/>
            </a:avLst>
          </a:prstGeom>
          <a:solidFill>
            <a:srgbClr val="1E2761"/>
          </a:solidFill>
          <a:ln/>
        </p:spPr>
      </p:sp>
      <p:sp>
        <p:nvSpPr>
          <p:cNvPr id="8" name="Text 4"/>
          <p:cNvSpPr/>
          <p:nvPr/>
        </p:nvSpPr>
        <p:spPr>
          <a:xfrm>
            <a:off x="8915400" y="169164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4A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SUMMARY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915400" y="21488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$7,325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8915400" y="27889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Phase 1 Spend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006840" y="3246120"/>
            <a:ext cx="2331720" cy="0"/>
          </a:xfrm>
          <a:prstGeom prst="line">
            <a:avLst/>
          </a:prstGeom>
          <a:noFill/>
          <a:ln w="12700">
            <a:solidFill>
              <a:srgbClr val="5B6B8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915400" y="338328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915400" y="3794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Ceiling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006840" y="420624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</p:sp>
      <p:sp>
        <p:nvSpPr>
          <p:cNvPr id="15" name="Text 11"/>
          <p:cNvSpPr/>
          <p:nvPr/>
        </p:nvSpPr>
        <p:spPr>
          <a:xfrm>
            <a:off x="9006840" y="42062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49% utilized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8915400" y="480060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$7,675 reserved for Phase 2 — firewalls, LAN switching, and ACL/NAT licensing.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Allocation by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$7,325 goes — and what headroom remains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08760"/>
          <a:ext cx="11064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BoM Protects Against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Physical-layer mistakes are the most expensive to fix — hardware is already shipped across the country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6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9248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fiber mode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4688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MMF ordered for a carrier hand-off: dead link on Day 1, full reship cycle to fix.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544568" y="187452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1" name="Image 1" descr="/home/claude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4860" y="19248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clock rate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44568" y="24688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clock rate on the DCE side: serial interface stays down/down indefinitely.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5" name="Shape 11"/>
          <p:cNvSpPr/>
          <p:nvPr/>
        </p:nvSpPr>
        <p:spPr>
          <a:xfrm>
            <a:off x="8339328" y="1874520"/>
            <a:ext cx="457200" cy="45720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16" name="Image 2" descr="/home/claude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9620" y="192481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8562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console access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39328" y="24688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RS-232 cable on-site: a misconfigured router becomes unreachable remotely.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749808" y="39319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98221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13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path only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" y="45262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WAN link per branch: any fiber cut takes the branch fully offline.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25" name="Shape 19"/>
          <p:cNvSpPr/>
          <p:nvPr/>
        </p:nvSpPr>
        <p:spPr>
          <a:xfrm>
            <a:off x="4544568" y="39319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6" name="Image 4" descr="/home/claude/icons/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860" y="3982212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913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Undocumented pinout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44568" y="45262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 swapped for straight-through: link shows "up" but never passes traffic.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30" name="Shape 23"/>
          <p:cNvSpPr/>
          <p:nvPr/>
        </p:nvSpPr>
        <p:spPr>
          <a:xfrm>
            <a:off x="8339328" y="39319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31" name="Image 5" descr="/home/claude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620" y="3982212"/>
            <a:ext cx="356616" cy="35661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91363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overrun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39328" y="4526280"/>
            <a:ext cx="320954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Untracked spend: exceeding $15,000 stops procurement mid-deployment.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Sign-Off &amp; What Comes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hardware is ordered and validated, the logical build begins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00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&amp; Ship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6596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all Phase 1 line items against the $7,325 spend, within the $15,000 ceiling.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97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Install &amp; Validate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 equipment, run fiber and serial cabling, confirm loopback and link-light status per site.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749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03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Logical Build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406908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PPP with CHAP, VLSM /30 addressing, and OSPF for automatic failover across all five sites.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00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7548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Capstone Defence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5120640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build-off, instructor-injected fault gauntlet, and Board of Directors architecture defence.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80644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"Ask questions anytime — participation is encouraged."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Bank WAN Deployment  |  CS 4122 Capstone  |  Phase 1: Bill of Materials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2026-07-21T21:40:27Z</dcterms:created>
  <dcterms:modified xsi:type="dcterms:W3CDTF">2026-07-21T21:40:27Z</dcterms:modified>
</cp:coreProperties>
</file>